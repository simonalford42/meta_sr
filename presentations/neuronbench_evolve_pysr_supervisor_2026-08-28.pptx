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ED9D6"/>
                </a:solidFill>
                <a:latin typeface="Arial"/>
              </a:defRPr>
            </a:pPr>
            <a:r>
              <a:t>GRANT UPDATE • 28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t>NeuronBench × evolve_pysr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ED9D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B8C8D8"/>
                </a:solidFill>
                <a:latin typeface="Arial"/>
              </a:defRPr>
            </a:pPr>
            <a:r>
              <a:t>Project sources: meta_sr runs 313196, 313195, 190177, 708907 • NeuronBench arXiv:2608.09696v4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D7E2EC"/>
                </a:solidFill>
                <a:latin typeface="Arial"/>
              </a:defRPr>
            </a:pPr>
            <a:r>
              <a:t>Meta-evolving symbolic regression for mechanistic neuron dynamics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3310128" cy="1444752"/>
          </a:xfrm>
          <a:prstGeom prst="roundRect">
            <a:avLst/>
          </a:prstGeom>
          <a:solidFill>
            <a:srgbClr val="21486F"/>
          </a:solidFill>
          <a:ln w="10160">
            <a:solidFill>
              <a:srgbClr val="41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2871216"/>
            <a:ext cx="82296" cy="1444752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099816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703320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D7E2EC"/>
                </a:solidFill>
                <a:latin typeface="Arial"/>
              </a:defRPr>
            </a:pPr>
            <a:r>
              <a:t>mechanistically distinct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D7E2EC"/>
                </a:solidFill>
                <a:latin typeface="Arial"/>
              </a:defRPr>
            </a:pPr>
            <a:r>
              <a:t>neuron worlds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871216"/>
            <a:ext cx="3310128" cy="1444752"/>
          </a:xfrm>
          <a:prstGeom prst="roundRect">
            <a:avLst/>
          </a:prstGeom>
          <a:solidFill>
            <a:srgbClr val="21486F"/>
          </a:solidFill>
          <a:ln w="10160">
            <a:solidFill>
              <a:srgbClr val="41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2871216"/>
            <a:ext cx="82296" cy="1444752"/>
          </a:xfrm>
          <a:prstGeom prst="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3099816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703320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D7E2EC"/>
                </a:solidFill>
                <a:latin typeface="Arial"/>
              </a:defRPr>
            </a:pPr>
            <a:r>
              <a:t>PySR search components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D7E2EC"/>
                </a:solidFill>
                <a:latin typeface="Arial"/>
              </a:defRPr>
            </a:pPr>
            <a:r>
              <a:t>co-evolved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871216"/>
            <a:ext cx="3310128" cy="1444752"/>
          </a:xfrm>
          <a:prstGeom prst="roundRect">
            <a:avLst/>
          </a:prstGeom>
          <a:solidFill>
            <a:srgbClr val="21486F"/>
          </a:solidFill>
          <a:ln w="10160">
            <a:solidFill>
              <a:srgbClr val="416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871216"/>
            <a:ext cx="82296" cy="1444752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099816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t>23/25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703320"/>
            <a:ext cx="2761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D7E2EC"/>
                </a:solidFill>
                <a:latin typeface="Arial"/>
              </a:defRPr>
            </a:pPr>
            <a:r>
              <a:t>strict held-out recoveries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D7E2EC"/>
                </a:solidFill>
                <a:latin typeface="Arial"/>
              </a:defRPr>
            </a:pPr>
            <a:r>
              <a:t>in the newest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18888"/>
            <a:ext cx="2057400" cy="347472"/>
          </a:xfrm>
          <a:prstGeom prst="round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NEW: DOMAIN-BLIND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4800600"/>
            <a:ext cx="8001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50" b="1" i="0">
                <a:solidFill>
                  <a:srgbClr val="FFFFFF"/>
                </a:solidFill>
                <a:latin typeface="Arial"/>
              </a:defRPr>
            </a:pPr>
            <a:r>
              <a:t>A generic prompt still discovered the same useful search motif: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50" b="1" i="0">
                <a:solidFill>
                  <a:srgbClr val="FFFFFF"/>
                </a:solidFill>
                <a:latin typeface="Arial"/>
              </a:defRPr>
            </a:pPr>
            <a:r>
              <a:t>fit the residual, then add the most informative feature direction.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KEVIN MURPHY’S MODEL DISCOVERY AGENT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NeuronBench asks for active mechanistic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Source: Murphy, Model Discovery Agent, arXiv:2608.09696v4 (25 Aug 2026), §4.4 and Appendix 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965960" cy="347472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80744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ORIGINAL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4" y="1307592"/>
            <a:ext cx="86410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7212B"/>
                </a:solidFill>
                <a:latin typeface="Arial"/>
              </a:defRPr>
            </a:pPr>
            <a:r>
              <a:t>Six “mystery neurons” built from generalized Hodgkin–Huxley 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03120"/>
            <a:ext cx="23317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286000"/>
            <a:ext cx="365760" cy="365760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32257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267712"/>
            <a:ext cx="1527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17365D"/>
                </a:solidFill>
                <a:latin typeface="Arial"/>
              </a:defRPr>
            </a:pPr>
            <a:r>
              <a:t>Choose an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19293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9 current-clamp templates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(active design)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7247" y="2798063"/>
            <a:ext cx="310897" cy="0"/>
          </a:xfrm>
          <a:prstGeom prst="line">
            <a:avLst/>
          </a:prstGeom>
          <a:ln w="22860">
            <a:solidFill>
              <a:srgbClr val="0D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3291840" y="2729483"/>
            <a:ext cx="146304" cy="137160"/>
          </a:xfrm>
          <a:prstGeom prst="triangle">
            <a:avLst/>
          </a:prstGeom>
          <a:solidFill>
            <a:srgbClr val="0D666A"/>
          </a:solidFill>
          <a:ln w="12700">
            <a:solidFill>
              <a:srgbClr val="0D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75304" y="2103120"/>
            <a:ext cx="23317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39896" y="2286000"/>
            <a:ext cx="365760" cy="365760"/>
          </a:xfrm>
          <a:prstGeom prst="ellipse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9896" y="232257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267712"/>
            <a:ext cx="1527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17365D"/>
                </a:solidFill>
                <a:latin typeface="Arial"/>
              </a:defRPr>
            </a:pPr>
            <a:r>
              <a:t>Probe a mystery neuron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6" y="2834639"/>
            <a:ext cx="19293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novel membrane mechanism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+ hidden gating 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44184" y="2798063"/>
            <a:ext cx="310895" cy="0"/>
          </a:xfrm>
          <a:prstGeom prst="line">
            <a:avLst/>
          </a:prstGeom>
          <a:ln w="22860">
            <a:solidFill>
              <a:srgbClr val="0D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208775" y="2729483"/>
            <a:ext cx="146304" cy="137160"/>
          </a:xfrm>
          <a:prstGeom prst="triangle">
            <a:avLst/>
          </a:prstGeom>
          <a:solidFill>
            <a:srgbClr val="0D666A"/>
          </a:solidFill>
          <a:ln w="12700">
            <a:solidFill>
              <a:srgbClr val="0D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2331720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56831" y="2286000"/>
            <a:ext cx="365760" cy="365760"/>
          </a:xfrm>
          <a:prstGeom prst="ellipse">
            <a:avLst/>
          </a:prstGeom>
          <a:solidFill>
            <a:srgbClr val="4D79A7"/>
          </a:solidFill>
          <a:ln w="1270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1" y="232257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7" y="2267712"/>
            <a:ext cx="15270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17365D"/>
                </a:solidFill>
                <a:latin typeface="Arial"/>
              </a:defRPr>
            </a:pPr>
            <a:r>
              <a:t>Observe a trajectory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2834639"/>
            <a:ext cx="19293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voltage over 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(+ stochastic variant)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19" y="2798063"/>
            <a:ext cx="310896" cy="0"/>
          </a:xfrm>
          <a:prstGeom prst="line">
            <a:avLst/>
          </a:prstGeom>
          <a:ln w="22860">
            <a:solidFill>
              <a:srgbClr val="0D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125711" y="2729483"/>
            <a:ext cx="146304" cy="137160"/>
          </a:xfrm>
          <a:prstGeom prst="triangle">
            <a:avLst/>
          </a:prstGeom>
          <a:solidFill>
            <a:srgbClr val="0D666A"/>
          </a:solidFill>
          <a:ln w="12700">
            <a:solidFill>
              <a:srgbClr val="0D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09176" y="2103120"/>
            <a:ext cx="2121408" cy="13898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73767" y="2286000"/>
            <a:ext cx="365760" cy="365760"/>
          </a:xfrm>
          <a:prstGeom prst="ellipse">
            <a:avLst/>
          </a:prstGeom>
          <a:solidFill>
            <a:srgbClr val="4F9D69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73767" y="232257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2267712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17365D"/>
                </a:solidFill>
                <a:latin typeface="Arial"/>
              </a:defRPr>
            </a:pPr>
            <a:r>
              <a:t>Predict interventions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2834639"/>
            <a:ext cx="171907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6 trajectory features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5F6B76"/>
                </a:solidFill>
                <a:latin typeface="Arial"/>
              </a:defRPr>
            </a:pPr>
            <a:r>
              <a:t>on held-out probes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02336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365D"/>
                </a:solidFill>
                <a:latin typeface="Arial"/>
              </a:defRPr>
            </a:pPr>
            <a:r>
              <a:t>Why it is hard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416552"/>
            <a:ext cx="32461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6968" y="4617720"/>
            <a:ext cx="164592" cy="164592"/>
          </a:xfrm>
          <a:prstGeom prst="ellipse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70432" y="45445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17212B"/>
                </a:solidFill>
                <a:latin typeface="Arial"/>
              </a:defRPr>
            </a:pPr>
            <a:r>
              <a:t>Partial observability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" y="4846320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F6B76"/>
                </a:solidFill>
                <a:latin typeface="Arial"/>
              </a:defRPr>
            </a:pPr>
            <a:r>
              <a:t>Infer hidden gates and mechanisms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F6B76"/>
                </a:solidFill>
                <a:latin typeface="Arial"/>
              </a:defRPr>
            </a:pPr>
            <a:r>
              <a:t>from voltage alone.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87952" y="4416552"/>
            <a:ext cx="32461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61688" y="4617720"/>
            <a:ext cx="164592" cy="164592"/>
          </a:xfrm>
          <a:prstGeom prst="ellipse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5152" y="45445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17212B"/>
                </a:solidFill>
                <a:latin typeface="Arial"/>
              </a:defRPr>
            </a:pPr>
            <a:r>
              <a:t>Experiment choice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846320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F6B76"/>
                </a:solidFill>
                <a:latin typeface="Arial"/>
              </a:defRPr>
            </a:pPr>
            <a:r>
              <a:t>Select useful perturbations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F6B76"/>
                </a:solidFill>
                <a:latin typeface="Arial"/>
              </a:defRPr>
            </a:pPr>
            <a:r>
              <a:t>under a small budget.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62672" y="4416552"/>
            <a:ext cx="324612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36408" y="4617720"/>
            <a:ext cx="164592" cy="164592"/>
          </a:xfrm>
          <a:prstGeom prst="ellipse">
            <a:avLst/>
          </a:prstGeom>
          <a:solidFill>
            <a:srgbClr val="4D79A7"/>
          </a:solidFill>
          <a:ln w="1270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9872" y="45445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17212B"/>
                </a:solidFill>
                <a:latin typeface="Arial"/>
              </a:defRPr>
            </a:pPr>
            <a:r>
              <a:t>Open hypothesis space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4846320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F6B76"/>
                </a:solidFill>
                <a:latin typeface="Arial"/>
              </a:defRPr>
            </a:pPr>
            <a:r>
              <a:t>The novel mechanism may be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5F6B76"/>
                </a:solidFill>
                <a:latin typeface="Arial"/>
              </a:defRPr>
            </a:pPr>
            <a:r>
              <a:t>absent from the model pool.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" y="5650992"/>
            <a:ext cx="10881360" cy="530352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5769864"/>
            <a:ext cx="104241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17365D"/>
                </a:solidFill>
                <a:latin typeface="Arial"/>
              </a:defRPr>
            </a:pPr>
            <a:r>
              <a:t>MDA combines nested SMC³ inference + LLM model proposals + Value-of-Information experiment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OUR ADAPTATION: NEURONBENCH → ORDINARY SYMBOLIC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We isolate the equation-discovery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Implementation: scripts/neuronbench_fully_observable.py • domain: domains.NeuronBenchDomain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801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5F6B76"/>
                </a:solidFill>
                <a:latin typeface="Arial"/>
              </a:defRPr>
            </a:pPr>
            <a:r>
              <a:t>Original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0D666A"/>
                </a:solidFill>
                <a:latin typeface="Arial"/>
              </a:defRPr>
            </a:pPr>
            <a:r>
              <a:t>Fully observable SR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1737360"/>
            <a:ext cx="4498848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65376"/>
            <a:ext cx="3995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7212B"/>
                </a:solidFill>
                <a:latin typeface="Arial"/>
              </a:defRPr>
            </a:pPr>
            <a:r>
              <a:t>choose current protocol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505456"/>
            <a:ext cx="4498848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33472"/>
            <a:ext cx="3995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7212B"/>
                </a:solidFill>
                <a:latin typeface="Arial"/>
              </a:defRPr>
            </a:pPr>
            <a:r>
              <a:t>observe voltage trajectory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3273552"/>
            <a:ext cx="4498848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01568"/>
            <a:ext cx="3995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7212B"/>
                </a:solidFill>
                <a:latin typeface="Arial"/>
              </a:defRPr>
            </a:pPr>
            <a:r>
              <a:t>infer hidden gates + mechanism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" y="4041648"/>
            <a:ext cx="4498848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69664"/>
            <a:ext cx="3995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17212B"/>
                </a:solidFill>
                <a:latin typeface="Arial"/>
              </a:defRPr>
            </a:pPr>
            <a:r>
              <a:t>forecast held-out interventions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1737360"/>
            <a:ext cx="4937760" cy="548640"/>
          </a:xfrm>
          <a:prstGeom prst="roundRect">
            <a:avLst/>
          </a:prstGeom>
          <a:solidFill>
            <a:srgbClr val="DDF2F0"/>
          </a:solidFill>
          <a:ln w="1016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1865376"/>
            <a:ext cx="4416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D666A"/>
                </a:solidFill>
                <a:latin typeface="Arial"/>
              </a:defRPr>
            </a:pPr>
            <a:r>
              <a:t>sample independent neuron states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2505456"/>
            <a:ext cx="4937760" cy="548640"/>
          </a:xfrm>
          <a:prstGeom prst="roundRect">
            <a:avLst/>
          </a:prstGeom>
          <a:solidFill>
            <a:srgbClr val="DDF2F0"/>
          </a:solidFill>
          <a:ln w="1016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633472"/>
            <a:ext cx="4416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D666A"/>
                </a:solidFill>
                <a:latin typeface="Arial"/>
              </a:defRPr>
            </a:pPr>
            <a:r>
              <a:t>observe I_ext, V, and each channel-open fraction φ_c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3273552"/>
            <a:ext cx="4937760" cy="548640"/>
          </a:xfrm>
          <a:prstGeom prst="roundRect">
            <a:avLst/>
          </a:prstGeom>
          <a:solidFill>
            <a:srgbClr val="DDF2F0"/>
          </a:solidFill>
          <a:ln w="1016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3401568"/>
            <a:ext cx="4416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1" i="0">
                <a:solidFill>
                  <a:srgbClr val="0D666A"/>
                </a:solidFill>
                <a:latin typeface="Arial"/>
              </a:defRPr>
            </a:pPr>
            <a:r>
              <a:t>fit one scalar target: dV/dt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041648"/>
            <a:ext cx="4937760" cy="548640"/>
          </a:xfrm>
          <a:prstGeom prst="roundRect">
            <a:avLst/>
          </a:prstGeom>
          <a:solidFill>
            <a:srgbClr val="DDF2F0"/>
          </a:solidFill>
          <a:ln w="1016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4169664"/>
            <a:ext cx="4416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20" b="0" i="0">
                <a:solidFill>
                  <a:srgbClr val="0D666A"/>
                </a:solidFill>
                <a:latin typeface="Arial"/>
              </a:defRPr>
            </a:pPr>
            <a:r>
              <a:t>evaluate exact physical vector field on held-out states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58384" y="2880360"/>
            <a:ext cx="941832" cy="0"/>
          </a:xfrm>
          <a:prstGeom prst="line">
            <a:avLst/>
          </a:prstGeom>
          <a:ln w="35560">
            <a:solidFill>
              <a:srgbClr val="E78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6153912" y="2811779"/>
            <a:ext cx="146304" cy="137160"/>
          </a:xfrm>
          <a:prstGeom prst="triangle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22392" y="2322576"/>
            <a:ext cx="804672" cy="347472"/>
          </a:xfrm>
          <a:prstGeom prst="round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2350008"/>
            <a:ext cx="8046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REDUCE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047488"/>
            <a:ext cx="9902952" cy="841248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5221224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dV/dt = I_ext − Σ_c g_c φ_c (V − E_c)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601675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7365D"/>
                </a:solidFill>
                <a:latin typeface="Arial"/>
              </a:defRPr>
            </a:pPr>
            <a:r>
              <a:t>1,024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291072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F6B76"/>
                </a:solidFill>
                <a:latin typeface="Arial"/>
              </a:defRPr>
            </a:pPr>
            <a:r>
              <a:t>train states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601675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7365D"/>
                </a:solidFill>
                <a:latin typeface="Arial"/>
              </a:defRPr>
            </a:pPr>
            <a:r>
              <a:t>16,384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0752" y="6291072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F6B76"/>
                </a:solidFill>
                <a:latin typeface="Arial"/>
              </a:defRPr>
            </a:pPr>
            <a:r>
              <a:t>held-out states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601675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7365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7064" y="6291072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F6B76"/>
                </a:solidFill>
                <a:latin typeface="Arial"/>
              </a:defRPr>
            </a:pPr>
            <a:r>
              <a:t>observation noise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601675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17365D"/>
                </a:solidFill>
                <a:latin typeface="Arial"/>
              </a:defRPr>
            </a:pPr>
            <a:r>
              <a:t>{+, −, ×}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3376" y="6291072"/>
            <a:ext cx="1783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F6B76"/>
                </a:solidFill>
                <a:latin typeface="Arial"/>
              </a:defRPr>
            </a:pPr>
            <a:r>
              <a:t>operator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CONNECTION TO ~/SANDIA_SPIKING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Same Hodgkin–Huxley skeleton, broader discovery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Existing HH artifact: /home/sca63/sandia_spiking/Hodgkins-Huxley/hh.pptx and hh_response2.png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4754880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h_respon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591056"/>
            <a:ext cx="4334256" cy="3849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5504688"/>
            <a:ext cx="4078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F6B76"/>
                </a:solidFill>
                <a:latin typeface="Arial"/>
              </a:defRPr>
            </a:pPr>
            <a:r>
              <a:t>Existing project: identify HH dynamics from simulated trajectories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408176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The shared physical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51576" y="1901952"/>
            <a:ext cx="5577840" cy="960120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130552"/>
            <a:ext cx="510235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C_m dV/dt = I_ext − I_Na − I_K − I_leak − I_novel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31352" y="3108960"/>
            <a:ext cx="0" cy="2157984"/>
          </a:xfrm>
          <a:prstGeom prst="line">
            <a:avLst/>
          </a:prstGeom>
          <a:ln w="15240">
            <a:solidFill>
              <a:srgbClr val="D5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24144" y="3300984"/>
            <a:ext cx="2606040" cy="1609344"/>
          </a:xfrm>
          <a:prstGeom prst="roundRect">
            <a:avLst/>
          </a:prstGeom>
          <a:solidFill>
            <a:srgbClr val="DDE9F4"/>
          </a:solidFill>
          <a:ln w="10160">
            <a:solidFill>
              <a:srgbClr val="ABC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1032" y="3511296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20" b="1" i="0">
                <a:solidFill>
                  <a:srgbClr val="17365D"/>
                </a:solidFill>
                <a:latin typeface="Arial"/>
              </a:defRPr>
            </a:pPr>
            <a:r>
              <a:t>sandia_spiking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3931920"/>
            <a:ext cx="2103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F6B76"/>
                </a:solidFill>
                <a:latin typeface="Arial"/>
              </a:defRPr>
            </a:pPr>
            <a:r>
              <a:t>one canonical HH system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F6B76"/>
                </a:solidFill>
                <a:latin typeface="Arial"/>
              </a:defRPr>
            </a:pPr>
            <a:r>
              <a:t>trajectory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F6B76"/>
                </a:solidFill>
                <a:latin typeface="Arial"/>
              </a:defRPr>
            </a:pPr>
            <a:r>
              <a:t>recover coupled 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3300984"/>
            <a:ext cx="2606040" cy="1609344"/>
          </a:xfrm>
          <a:prstGeom prst="roundRect">
            <a:avLst/>
          </a:prstGeom>
          <a:solidFill>
            <a:srgbClr val="DDF2F0"/>
          </a:solidFill>
          <a:ln w="1016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3511296"/>
            <a:ext cx="2148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20" b="1" i="0">
                <a:solidFill>
                  <a:srgbClr val="0D666A"/>
                </a:solidFill>
                <a:latin typeface="Arial"/>
              </a:defRPr>
            </a:pPr>
            <a:r>
              <a:t>NeuronBench SR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931920"/>
            <a:ext cx="2148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F6B76"/>
                </a:solidFill>
                <a:latin typeface="Arial"/>
              </a:defRPr>
            </a:pPr>
            <a:r>
              <a:t>six mechanisms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F6B76"/>
                </a:solidFill>
                <a:latin typeface="Arial"/>
              </a:defRPr>
            </a:pPr>
            <a:r>
              <a:t>collocation states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5F6B76"/>
                </a:solidFill>
                <a:latin typeface="Arial"/>
              </a:defRPr>
            </a:pPr>
            <a:r>
              <a:t>recover membrane law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85048" y="4105656"/>
            <a:ext cx="292608" cy="0"/>
          </a:xfrm>
          <a:prstGeom prst="line">
            <a:avLst/>
          </a:prstGeom>
          <a:ln w="27940">
            <a:solidFill>
              <a:srgbClr val="E78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531352" y="4037076"/>
            <a:ext cx="146304" cy="137160"/>
          </a:xfrm>
          <a:prstGeom prst="triangle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42432" y="5312664"/>
            <a:ext cx="5596128" cy="658368"/>
          </a:xfrm>
          <a:prstGeom prst="roundRect">
            <a:avLst/>
          </a:prstGeom>
          <a:solidFill>
            <a:srgbClr val="FCE9D8"/>
          </a:solidFill>
          <a:ln w="12700">
            <a:solidFill>
              <a:srgbClr val="F0C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07608" y="5468112"/>
            <a:ext cx="5074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8B4B17"/>
                </a:solidFill>
                <a:latin typeface="Arial"/>
              </a:defRPr>
            </a:pPr>
            <a:r>
              <a:t>NeuronBench turns the HH demonstration into a transfer benchmark.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COMMON NA + K + LEAK BACKBONE; ONE WORLD-SPECIFIC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The benchmark is six current-balance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World definitions: neuronbench.worlds at commit c354622458c460b419cab821d482c879f0578377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99032"/>
            <a:ext cx="3456432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99032"/>
            <a:ext cx="91440" cy="1911095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58191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Z-rebound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554480"/>
            <a:ext cx="768096" cy="347472"/>
          </a:xfrm>
          <a:prstGeom prst="round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581912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1/6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0939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φ_Z = m_Z²h_Z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244144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D666A"/>
                </a:solidFill>
                <a:latin typeface="Arial"/>
              </a:defRPr>
            </a:pPr>
            <a:r>
              <a:t>−4 φ_Z (V − 120)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86207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5F6B76"/>
                </a:solidFill>
                <a:latin typeface="Arial"/>
              </a:defRPr>
            </a:pPr>
            <a:r>
              <a:t>depolarization block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399032"/>
            <a:ext cx="3456432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3128" y="1399032"/>
            <a:ext cx="91440" cy="1911095"/>
          </a:xfrm>
          <a:prstGeom prst="rect">
            <a:avLst/>
          </a:prstGeom>
          <a:solidFill>
            <a:srgbClr val="4D79A7"/>
          </a:solidFill>
          <a:ln w="1270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58191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H-sag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0568" y="1554480"/>
            <a:ext cx="768096" cy="347472"/>
          </a:xfrm>
          <a:prstGeom prst="roundRect">
            <a:avLst/>
          </a:prstGeom>
          <a:solidFill>
            <a:srgbClr val="4D79A7"/>
          </a:solidFill>
          <a:ln w="1270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81912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2/6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0939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φ_h = m_h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44144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D666A"/>
                </a:solidFill>
                <a:latin typeface="Arial"/>
              </a:defRPr>
            </a:pPr>
            <a:r>
              <a:t>−5 φ_h (V + 30)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86207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5F6B76"/>
                </a:solidFill>
                <a:latin typeface="Arial"/>
              </a:defRPr>
            </a:pPr>
            <a:r>
              <a:t>sag + rebound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5" y="1399032"/>
            <a:ext cx="3456432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66175" y="1399032"/>
            <a:ext cx="91440" cy="1911095"/>
          </a:xfrm>
          <a:prstGeom prst="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158191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Na-fatigue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43615" y="1554480"/>
            <a:ext cx="768096" cy="347472"/>
          </a:xfrm>
          <a:prstGeom prst="round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43615" y="1581912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3/6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09397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φ_Na includes s_Na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44144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D666A"/>
                </a:solidFill>
                <a:latin typeface="Arial"/>
              </a:defRPr>
            </a:pPr>
            <a:r>
              <a:t>no extra current 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86207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5F6B76"/>
                </a:solidFill>
                <a:latin typeface="Arial"/>
              </a:defRPr>
            </a:pPr>
            <a:r>
              <a:t>use-dependent rundown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639312"/>
            <a:ext cx="3456432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639312"/>
            <a:ext cx="91440" cy="1911095"/>
          </a:xfrm>
          <a:prstGeom prst="rect">
            <a:avLst/>
          </a:prstGeom>
          <a:solidFill>
            <a:srgbClr val="C9584E"/>
          </a:solidFill>
          <a:ln w="12700">
            <a:solidFill>
              <a:srgbClr val="C95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382219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Ca-rebound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794760"/>
            <a:ext cx="768096" cy="347472"/>
          </a:xfrm>
          <a:prstGeom prst="roundRect">
            <a:avLst/>
          </a:prstGeom>
          <a:solidFill>
            <a:srgbClr val="C9584E"/>
          </a:solidFill>
          <a:ln w="12700">
            <a:solidFill>
              <a:srgbClr val="C95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3822192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4/6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" y="433425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φ_T = m_T²h_T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" y="46817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D666A"/>
                </a:solidFill>
                <a:latin typeface="Arial"/>
              </a:defRPr>
            </a:pPr>
            <a:r>
              <a:t>−3.2 φ_T (V − 120)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" y="510235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5F6B76"/>
                </a:solidFill>
                <a:latin typeface="Arial"/>
              </a:defRPr>
            </a:pPr>
            <a:r>
              <a:t>rebound burst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53128" y="3639312"/>
            <a:ext cx="3456432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53128" y="3639312"/>
            <a:ext cx="91440" cy="1911095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382219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D-type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30568" y="3794760"/>
            <a:ext cx="768096" cy="347472"/>
          </a:xfrm>
          <a:prstGeom prst="roundRect">
            <a:avLst/>
          </a:prstGeom>
          <a:solidFill>
            <a:srgbClr val="4F9D69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0568" y="3822192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5/6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6592" y="433425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φ_D = m_Dh_D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36592" y="46817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D666A"/>
                </a:solidFill>
                <a:latin typeface="Arial"/>
              </a:defRPr>
            </a:pPr>
            <a:r>
              <a:t>−9 φ_D (V + 77)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6592" y="510235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5F6B76"/>
                </a:solidFill>
                <a:latin typeface="Arial"/>
              </a:defRPr>
            </a:pPr>
            <a:r>
              <a:t>delayed firing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6175" y="3639312"/>
            <a:ext cx="3456432" cy="19110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66175" y="3639312"/>
            <a:ext cx="91440" cy="1911095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382219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7365D"/>
                </a:solidFill>
                <a:latin typeface="Arial"/>
              </a:defRPr>
            </a:pPr>
            <a:r>
              <a:t>Textbook-M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43615" y="3794760"/>
            <a:ext cx="768096" cy="347472"/>
          </a:xfrm>
          <a:prstGeom prst="roundRect">
            <a:avLst/>
          </a:prstGeom>
          <a:solidFill>
            <a:srgbClr val="8064A2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43615" y="3822192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6/6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433425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φ_M = m_M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6817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0D666A"/>
                </a:solidFill>
                <a:latin typeface="Arial"/>
              </a:defRPr>
            </a:pPr>
            <a:r>
              <a:t>−2.5 φ_M (V + 77)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10235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5F6B76"/>
                </a:solidFill>
                <a:latin typeface="Arial"/>
              </a:defRPr>
            </a:pPr>
            <a:r>
              <a:t>spike adaptation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5925312"/>
            <a:ext cx="10972800" cy="393192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" y="6007608"/>
            <a:ext cx="105338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17365D"/>
                </a:solidFill>
                <a:latin typeface="Arial"/>
              </a:defRPr>
            </a:pPr>
            <a:r>
              <a:t>Ground-truth complexity: 23 nodes for Na-fatigue; 31 nodes for the five worlds with an extra current.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META-EVOLUTION, NOT JUST EQUATION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evolve_pysr searches over the search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Evolution fitness: fraction of training worlds solved at held-out NRMSE ≤ 1e−6 • final fits use up to 1e6 evaluations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16736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365D"/>
                </a:solidFill>
                <a:latin typeface="Arial"/>
              </a:defRPr>
            </a:pPr>
            <a:r>
              <a:t>LLM proposes Julia operators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10512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10512"/>
            <a:ext cx="91440" cy="530352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17212B"/>
                </a:solidFill>
                <a:latin typeface="Arial"/>
              </a:defRPr>
            </a:pPr>
            <a:r>
              <a:t>Mutation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32888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532888"/>
            <a:ext cx="91440" cy="530352"/>
          </a:xfrm>
          <a:prstGeom prst="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700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17212B"/>
                </a:solidFill>
                <a:latin typeface="Arial"/>
              </a:defRPr>
            </a:pPr>
            <a:r>
              <a:t>Survival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55264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255264"/>
            <a:ext cx="91440" cy="530352"/>
          </a:xfrm>
          <a:prstGeom prst="rect">
            <a:avLst/>
          </a:prstGeom>
          <a:solidFill>
            <a:srgbClr val="4D79A7"/>
          </a:solidFill>
          <a:ln w="1270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392424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17212B"/>
                </a:solidFill>
                <a:latin typeface="Arial"/>
              </a:defRPr>
            </a:pPr>
            <a:r>
              <a:t>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25146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91440" cy="530352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14800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20" b="1" i="0">
                <a:solidFill>
                  <a:srgbClr val="17212B"/>
                </a:solidFill>
                <a:latin typeface="Arial"/>
              </a:defRPr>
            </a:pPr>
            <a:r>
              <a:t>Loss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46704" y="3026664"/>
            <a:ext cx="1280160" cy="0"/>
          </a:xfrm>
          <a:prstGeom prst="line">
            <a:avLst/>
          </a:prstGeom>
          <a:ln w="30480">
            <a:solidFill>
              <a:srgbClr val="0D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80559" y="2958084"/>
            <a:ext cx="146304" cy="137160"/>
          </a:xfrm>
          <a:prstGeom prst="triangle">
            <a:avLst/>
          </a:prstGeom>
          <a:solidFill>
            <a:srgbClr val="0D666A"/>
          </a:solidFill>
          <a:ln w="12700">
            <a:solidFill>
              <a:srgbClr val="0D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09160" y="1975104"/>
            <a:ext cx="2834640" cy="2121408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2402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PySR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2788920"/>
            <a:ext cx="2139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7E2EC"/>
                </a:solidFill>
                <a:latin typeface="Arial"/>
              </a:defRPr>
            </a:pPr>
            <a:r>
              <a:t>3 seeds / candidate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7E2EC"/>
                </a:solidFill>
                <a:latin typeface="Arial"/>
              </a:defRPr>
            </a:pPr>
            <a:r>
              <a:t>10 seeds / finalists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D7E2EC"/>
                </a:solidFill>
                <a:latin typeface="Arial"/>
              </a:defRPr>
            </a:pPr>
            <a:r>
              <a:t>score = solve fraction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08392" y="3026664"/>
            <a:ext cx="1234440" cy="0"/>
          </a:xfrm>
          <a:prstGeom prst="line">
            <a:avLst/>
          </a:prstGeom>
          <a:ln w="30480">
            <a:solidFill>
              <a:srgbClr val="0D6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8796528" y="2958084"/>
            <a:ext cx="146304" cy="137160"/>
          </a:xfrm>
          <a:prstGeom prst="triangle">
            <a:avLst/>
          </a:prstGeom>
          <a:solidFill>
            <a:srgbClr val="0D666A"/>
          </a:solidFill>
          <a:ln w="12700">
            <a:solidFill>
              <a:srgbClr val="0D6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34272" y="1975104"/>
            <a:ext cx="2505456" cy="2121408"/>
          </a:xfrm>
          <a:prstGeom prst="roundRect">
            <a:avLst/>
          </a:prstGeom>
          <a:solidFill>
            <a:srgbClr val="DDF2F0"/>
          </a:solidFill>
          <a:ln w="1016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2267712"/>
            <a:ext cx="1975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D666A"/>
                </a:solidFill>
                <a:latin typeface="Arial"/>
              </a:defRPr>
            </a:pPr>
            <a:r>
              <a:t>Select top-k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807208"/>
            <a:ext cx="197510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0" b="0" i="0">
                <a:solidFill>
                  <a:srgbClr val="5F6B76"/>
                </a:solidFill>
                <a:latin typeface="Arial"/>
              </a:defRPr>
            </a:pPr>
            <a:r>
              <a:t>retain strong bundles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0" b="0" i="0">
                <a:solidFill>
                  <a:srgbClr val="5F6B76"/>
                </a:solidFill>
                <a:latin typeface="Arial"/>
              </a:defRPr>
            </a:pPr>
            <a:r>
              <a:t>mutate + recombine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0" b="0" i="0">
                <a:solidFill>
                  <a:srgbClr val="5F6B76"/>
                </a:solidFill>
                <a:latin typeface="Arial"/>
              </a:defRPr>
            </a:pPr>
            <a:r>
              <a:t>repeat by generation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920239" y="4370832"/>
            <a:ext cx="8366761" cy="0"/>
          </a:xfrm>
          <a:prstGeom prst="line">
            <a:avLst/>
          </a:prstGeom>
          <a:ln w="21590">
            <a:solidFill>
              <a:srgbClr val="E78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6200000">
            <a:off x="1920240" y="4302252"/>
            <a:ext cx="146304" cy="137160"/>
          </a:xfrm>
          <a:prstGeom prst="triangle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773168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50" b="1" i="0">
                <a:solidFill>
                  <a:srgbClr val="17365D"/>
                </a:solidFill>
                <a:latin typeface="Arial"/>
              </a:defRPr>
            </a:pPr>
            <a:r>
              <a:t>Transfer regimes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193792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340096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68C8C"/>
                </a:solidFill>
                <a:latin typeface="Arial"/>
              </a:defRPr>
            </a:pPr>
            <a:r>
              <a:t>top-1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641848"/>
            <a:ext cx="1719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5F6B76"/>
                </a:solidFill>
                <a:latin typeface="Arial"/>
              </a:defRPr>
            </a:pPr>
            <a:r>
              <a:t>train on Z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71800" y="5193792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5340096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D79A7"/>
                </a:solidFill>
                <a:latin typeface="Arial"/>
              </a:defRPr>
            </a:pPr>
            <a:r>
              <a:t>top-2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6392" y="5641848"/>
            <a:ext cx="1719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5F6B76"/>
                </a:solidFill>
                <a:latin typeface="Arial"/>
              </a:defRPr>
            </a:pPr>
            <a:r>
              <a:t>train on Z + 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85231" y="5193792"/>
            <a:ext cx="20574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9823" y="5340096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E7812B"/>
                </a:solidFill>
                <a:latin typeface="Arial"/>
              </a:defRPr>
            </a:pPr>
            <a:r>
              <a:t>“top5”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9823" y="5641848"/>
            <a:ext cx="1719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69" b="0" i="0">
                <a:solidFill>
                  <a:srgbClr val="5F6B76"/>
                </a:solidFill>
                <a:latin typeface="Arial"/>
              </a:defRPr>
            </a:pPr>
            <a:r>
              <a:t>train on five; hold out 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7848" y="4892040"/>
            <a:ext cx="3611880" cy="1133856"/>
          </a:xfrm>
          <a:prstGeom prst="roundRect">
            <a:avLst/>
          </a:prstGeom>
          <a:solidFill>
            <a:srgbClr val="FCE9D8"/>
          </a:solidFill>
          <a:ln w="12700">
            <a:solidFill>
              <a:srgbClr val="F0C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74736" y="50840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8B4B17"/>
                </a:solidFill>
                <a:latin typeface="Arial"/>
              </a:defRPr>
            </a:pPr>
            <a:r>
              <a:t>Repeated evolved motif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5468112"/>
            <a:ext cx="31089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7212B"/>
                </a:solidFill>
                <a:latin typeface="Arial"/>
              </a:defRPr>
            </a:pPr>
            <a:r>
              <a:t>project residual onto a feature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7212B"/>
                </a:solidFill>
                <a:latin typeface="Arial"/>
              </a:defRPr>
            </a:pPr>
            <a:r>
              <a:t>then add the fitted correction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WHOLE-FRONTIER MANUAL STRUCTURAL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Earlier evolution transferred across unseen neurons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Audited sources: reports/neuron_topk_manual_transfer_report.pdf and neuron_manual_match_comparison.json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07592"/>
            <a:ext cx="6492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365D"/>
                </a:solidFill>
                <a:latin typeface="Arial"/>
              </a:defRPr>
            </a:pPr>
            <a:r>
              <a:t>Manual match rate on held-out worlds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103327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7212B"/>
                </a:solidFill>
                <a:latin typeface="Arial"/>
              </a:defRPr>
            </a:pPr>
            <a:r>
              <a:t>top-1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47088"/>
            <a:ext cx="5010912" cy="50292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1847088"/>
            <a:ext cx="3808293" cy="502920"/>
          </a:xfrm>
          <a:prstGeom prst="round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1956816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19/25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11095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C"/>
                </a:solidFill>
                <a:latin typeface="Arial"/>
              </a:defRPr>
            </a:pPr>
            <a:r>
              <a:t>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99232"/>
            <a:ext cx="103327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7212B"/>
                </a:solidFill>
                <a:latin typeface="Arial"/>
              </a:defRPr>
            </a:pPr>
            <a:r>
              <a:t>top-2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2907791"/>
            <a:ext cx="5010912" cy="50292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2907791"/>
            <a:ext cx="4008729" cy="502920"/>
          </a:xfrm>
          <a:prstGeom prst="roundRect">
            <a:avLst/>
          </a:prstGeom>
          <a:solidFill>
            <a:srgbClr val="4D79A7"/>
          </a:solidFill>
          <a:ln w="1270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2536" y="3017520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16/20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971799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4D79A7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59935"/>
            <a:ext cx="103327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7212B"/>
                </a:solidFill>
                <a:latin typeface="Arial"/>
              </a:defRPr>
            </a:pPr>
            <a:r>
              <a:t>“top5”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968496"/>
            <a:ext cx="5010912" cy="502920"/>
          </a:xfrm>
          <a:prstGeom prst="roundRect">
            <a:avLst/>
          </a:prstGeom>
          <a:solidFill>
            <a:srgbClr val="EAF0F5"/>
          </a:solidFill>
          <a:ln w="12700">
            <a:solidFill>
              <a:srgbClr val="EAF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3968496"/>
            <a:ext cx="5010912" cy="502920"/>
          </a:xfrm>
          <a:prstGeom prst="round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02536" y="4078224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t>5/5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032504"/>
            <a:ext cx="7132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E7812B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1481328"/>
            <a:ext cx="3493008" cy="3648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755648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365D"/>
                </a:solidFill>
                <a:latin typeface="Arial"/>
              </a:defRPr>
            </a:pPr>
            <a:r>
              <a:t>What counted as recovery?</a:t>
            </a:r>
          </a:p>
        </p:txBody>
      </p:sp>
      <p:sp>
        <p:nvSpPr>
          <p:cNvPr id="26" name="Oval 25"/>
          <p:cNvSpPr/>
          <p:nvPr/>
        </p:nvSpPr>
        <p:spPr>
          <a:xfrm>
            <a:off x="8321040" y="2395728"/>
            <a:ext cx="210312" cy="210312"/>
          </a:xfrm>
          <a:prstGeom prst="ellipse">
            <a:avLst/>
          </a:prstGeom>
          <a:solidFill>
            <a:srgbClr val="E2F1E7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3" y="2409444"/>
            <a:ext cx="1920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4F9D6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7656" y="2359152"/>
            <a:ext cx="24963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7212B"/>
                </a:solidFill>
                <a:latin typeface="Arial"/>
              </a:defRPr>
            </a:pPr>
            <a:r>
              <a:t>all required physical monomials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2962656"/>
            <a:ext cx="210312" cy="210312"/>
          </a:xfrm>
          <a:prstGeom prst="ellipse">
            <a:avLst/>
          </a:prstGeom>
          <a:solidFill>
            <a:srgbClr val="E2F1E7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3" y="2976372"/>
            <a:ext cx="1920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4F9D6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7656" y="2926080"/>
            <a:ext cx="24963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7212B"/>
                </a:solidFill>
                <a:latin typeface="Arial"/>
              </a:defRPr>
            </a:pPr>
            <a:r>
              <a:t>no material extra monomial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3529584"/>
            <a:ext cx="210312" cy="210312"/>
          </a:xfrm>
          <a:prstGeom prst="ellipse">
            <a:avLst/>
          </a:prstGeom>
          <a:solidFill>
            <a:srgbClr val="E2F1E7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3543300"/>
            <a:ext cx="1920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4F9D6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7656" y="3493008"/>
            <a:ext cx="24963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7212B"/>
                </a:solidFill>
                <a:latin typeface="Arial"/>
              </a:defRPr>
            </a:pPr>
            <a:r>
              <a:t>clearly close coefficients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4096511"/>
            <a:ext cx="210312" cy="210312"/>
          </a:xfrm>
          <a:prstGeom prst="ellipse">
            <a:avLst/>
          </a:prstGeom>
          <a:solidFill>
            <a:srgbClr val="E2F1E7"/>
          </a:solidFill>
          <a:ln w="12700">
            <a:solidFill>
              <a:srgbClr val="4F9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0183" y="4110227"/>
            <a:ext cx="1920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4F9D6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7656" y="4059935"/>
            <a:ext cx="24963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0" b="0" i="0">
                <a:solidFill>
                  <a:srgbClr val="17212B"/>
                </a:solidFill>
                <a:latin typeface="Arial"/>
              </a:defRPr>
            </a:pPr>
            <a:r>
              <a:t>tiny numerical artifacts allowed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5175504"/>
            <a:ext cx="7059168" cy="694944"/>
          </a:xfrm>
          <a:prstGeom prst="roundRect">
            <a:avLst/>
          </a:prstGeom>
          <a:solidFill>
            <a:srgbClr val="DDF2F0"/>
          </a:solidFill>
          <a:ln w="12700">
            <a:solidFill>
              <a:srgbClr val="A7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358384"/>
            <a:ext cx="6519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D666A"/>
                </a:solidFill>
                <a:latin typeface="Arial"/>
              </a:defRPr>
            </a:pPr>
            <a:r>
              <a:t>Cross-run signal: residual-guided additive mutation appears in all three best bundles.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8431" y="5321808"/>
            <a:ext cx="3493008" cy="548640"/>
          </a:xfrm>
          <a:prstGeom prst="roundRect">
            <a:avLst/>
          </a:prstGeom>
          <a:solidFill>
            <a:srgbClr val="FCE9D8"/>
          </a:solidFill>
          <a:ln w="12700">
            <a:solidFill>
              <a:srgbClr val="F0C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7031" y="54406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8B4B17"/>
                </a:solidFill>
                <a:latin typeface="Arial"/>
              </a:defRPr>
            </a:pPr>
            <a:r>
              <a:t>Caveat: “top5” = one LOOCV fold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9319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0D666A"/>
                </a:solidFill>
                <a:latin typeface="Arial"/>
              </a:defRPr>
            </a:pPr>
            <a:r>
              <a:t>RUN 708907 • “UNINFORMATIVE PROMPT” • TRAIN ON Z-REBOUND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85800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65D"/>
                </a:solidFill>
                <a:latin typeface="Arial"/>
              </a:defRPr>
            </a:pPr>
            <a:r>
              <a:t>Newest result: domain-blind prompts still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92256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50" b="1" i="0">
                <a:solidFill>
                  <a:srgbClr val="5F6B76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5F6B76"/>
                </a:solidFill>
                <a:latin typeface="Arial"/>
              </a:defRPr>
            </a:pPr>
            <a:r>
              <a:t>Source: runs/708907/run_data.json and runs/708907/neuron_full_eval/neuron_results.json • five final seeds/world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335024"/>
            <a:ext cx="4645152" cy="1042415"/>
          </a:xfrm>
          <a:prstGeom prst="round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527048"/>
            <a:ext cx="412394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20" b="0" i="1">
                <a:solidFill>
                  <a:srgbClr val="FFFFFF"/>
                </a:solidFill>
                <a:latin typeface="Arial"/>
              </a:defRPr>
            </a:pPr>
            <a:r>
              <a:t>“Improve the algorithm’s ability to discover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20" b="0" i="1">
                <a:solidFill>
                  <a:srgbClr val="FFFFFF"/>
                </a:solidFill>
                <a:latin typeface="Arial"/>
              </a:defRPr>
            </a:pPr>
            <a:r>
              <a:t>the expression that generated the task data.”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06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50" b="1" i="0">
                <a:solidFill>
                  <a:srgbClr val="17365D"/>
                </a:solidFill>
                <a:latin typeface="Arial"/>
              </a:defRPr>
            </a:pPr>
            <a:r>
              <a:t>Best training solve rate by generation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681728"/>
            <a:ext cx="4261104" cy="0"/>
          </a:xfrm>
          <a:prstGeom prst="line">
            <a:avLst/>
          </a:prstGeom>
          <a:ln w="12700">
            <a:solidFill>
              <a:srgbClr val="D5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3081528"/>
            <a:ext cx="0" cy="1600200"/>
          </a:xfrm>
          <a:prstGeom prst="line">
            <a:avLst/>
          </a:prstGeom>
          <a:ln w="12700">
            <a:solidFill>
              <a:srgbClr val="D5D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22960" y="3614928"/>
            <a:ext cx="304364" cy="42672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7324" y="3081528"/>
            <a:ext cx="304365" cy="53340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31689" y="3081528"/>
            <a:ext cx="304364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36053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40418" y="3081528"/>
            <a:ext cx="304364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44782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49147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53512" y="3081528"/>
            <a:ext cx="304364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57876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62241" y="3081528"/>
            <a:ext cx="304364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66605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70970" y="3081528"/>
            <a:ext cx="304364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75334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79699" y="3081528"/>
            <a:ext cx="304365" cy="0"/>
          </a:xfrm>
          <a:prstGeom prst="line">
            <a:avLst/>
          </a:prstGeom>
          <a:ln w="3048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72668" y="3991356"/>
            <a:ext cx="100584" cy="100584"/>
          </a:xfrm>
          <a:prstGeom prst="ellipse">
            <a:avLst/>
          </a:prstGeom>
          <a:solidFill>
            <a:srgbClr val="168C8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7032" y="3564636"/>
            <a:ext cx="100584" cy="100584"/>
          </a:xfrm>
          <a:prstGeom prst="ellipse">
            <a:avLst/>
          </a:prstGeom>
          <a:solidFill>
            <a:srgbClr val="168C8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1397" y="3031236"/>
            <a:ext cx="100584" cy="100584"/>
          </a:xfrm>
          <a:prstGeom prst="ellipse">
            <a:avLst/>
          </a:prstGeom>
          <a:solidFill>
            <a:srgbClr val="168C8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33772" y="3031236"/>
            <a:ext cx="100584" cy="100584"/>
          </a:xfrm>
          <a:prstGeom prst="ellipse">
            <a:avLst/>
          </a:prstGeom>
          <a:solidFill>
            <a:srgbClr val="168C8C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F6B7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379933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F6B76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99923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F6B7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791456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F6B7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0521" y="4791456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F6B7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6" y="4791456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5F6B7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50109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F6B76"/>
                </a:solidFill>
                <a:latin typeface="Arial"/>
              </a:defRPr>
            </a:pPr>
            <a:r>
              <a:t>generation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960" y="4681728"/>
            <a:ext cx="4261104" cy="0"/>
          </a:xfrm>
          <a:prstGeom prst="line">
            <a:avLst/>
          </a:prstGeom>
          <a:ln w="12700">
            <a:solidFill>
              <a:srgbClr val="C95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32688" y="4727448"/>
            <a:ext cx="1133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80" b="0" i="0">
                <a:solidFill>
                  <a:srgbClr val="C9584E"/>
                </a:solidFill>
                <a:latin typeface="Arial"/>
              </a:defRPr>
            </a:pPr>
            <a:r>
              <a:t>baseline = 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992" y="1344168"/>
            <a:ext cx="5715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365D"/>
                </a:solidFill>
                <a:latin typeface="Arial"/>
              </a:defRPr>
            </a:pPr>
            <a:r>
              <a:t>Held-out strict numerical 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7568" y="189280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H-sag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59168" y="1828800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562088" y="1828800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65008" y="1828800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67928" y="1828800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070848" y="1828800"/>
            <a:ext cx="384048" cy="384048"/>
          </a:xfrm>
          <a:prstGeom prst="roundRect">
            <a:avLst/>
          </a:prstGeom>
          <a:solidFill>
            <a:srgbClr val="4D79A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02368" y="1892807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F6B76"/>
                </a:solidFill>
                <a:latin typeface="Arial"/>
              </a:defRPr>
            </a:pPr>
            <a:r>
              <a:t>median 3.3e-10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87568" y="25146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Na-fatigue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59168" y="2450592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562088" y="2450592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65008" y="2450592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67928" y="2450592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70848" y="2450592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02368" y="2514600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F6B76"/>
                </a:solidFill>
                <a:latin typeface="Arial"/>
              </a:defRPr>
            </a:pPr>
            <a:r>
              <a:t>median 2.6e-11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87568" y="31363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Ca-rebound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59168" y="3072384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562088" y="3072384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65008" y="3072384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567928" y="3072384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70848" y="3072384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02368" y="3136392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F6B76"/>
                </a:solidFill>
                <a:latin typeface="Arial"/>
              </a:defRPr>
            </a:pPr>
            <a:r>
              <a:t>median 8.8e-10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87568" y="375818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D-type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059168" y="3694176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62088" y="3694176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065008" y="3694176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567928" y="3694176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070848" y="3694176"/>
            <a:ext cx="384048" cy="384048"/>
          </a:xfrm>
          <a:prstGeom prst="roundRect">
            <a:avLst/>
          </a:prstGeom>
          <a:solidFill>
            <a:srgbClr val="4D79A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02368" y="3758184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F6B76"/>
                </a:solidFill>
                <a:latin typeface="Arial"/>
              </a:defRPr>
            </a:pPr>
            <a:r>
              <a:t>median 3.3e-09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87568" y="437997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Textbook-M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059168" y="4315968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562088" y="4315968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065008" y="4315968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567928" y="4315968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070848" y="4315968"/>
            <a:ext cx="384048" cy="384048"/>
          </a:xfrm>
          <a:prstGeom prst="roundRect">
            <a:avLst/>
          </a:prstGeom>
          <a:solidFill>
            <a:srgbClr val="4F9D69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802368" y="437997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F6B76"/>
                </a:solidFill>
                <a:latin typeface="Arial"/>
              </a:defRPr>
            </a:pPr>
            <a:r>
              <a:t>median 1.3e-09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68312" y="5010912"/>
            <a:ext cx="2761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 i="0">
                <a:solidFill>
                  <a:srgbClr val="5F6B76"/>
                </a:solidFill>
                <a:latin typeface="Arial"/>
              </a:defRPr>
            </a:pPr>
            <a:r>
              <a:t>■ strict recovered     ■ near-exact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50992" y="5321808"/>
            <a:ext cx="5678424" cy="758952"/>
          </a:xfrm>
          <a:prstGeom prst="roundRect">
            <a:avLst/>
          </a:prstGeom>
          <a:solidFill>
            <a:srgbClr val="E2F1E7"/>
          </a:solidFill>
          <a:ln w="12700">
            <a:solidFill>
              <a:srgbClr val="B9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25312" y="546811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F9D69"/>
                </a:solidFill>
                <a:latin typeface="Arial"/>
              </a:defRPr>
            </a:pPr>
            <a:r>
              <a:t>23 / 25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88936" y="5468112"/>
            <a:ext cx="3593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strict recoveries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7212B"/>
                </a:solidFill>
                <a:latin typeface="Arial"/>
              </a:defRPr>
            </a:pPr>
            <a:r>
              <a:t>+ 2 near-exact, 0 misses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76656" y="5760720"/>
            <a:ext cx="1874519" cy="347472"/>
          </a:xfrm>
          <a:prstGeom prst="roundRect">
            <a:avLst/>
          </a:prstGeom>
          <a:solidFill>
            <a:srgbClr val="E7812B"/>
          </a:solidFill>
          <a:ln w="12700">
            <a:solidFill>
              <a:srgbClr val="E78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6656" y="5788152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BEST BUNDLE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61488" y="5660136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residual projection mutation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50" b="1" i="0">
                <a:solidFill>
                  <a:srgbClr val="17212B"/>
                </a:solidFill>
                <a:latin typeface="Arial"/>
              </a:defRPr>
            </a:pPr>
            <a:r>
              <a:t>+ frequency-aware selection + MSE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ED9D6"/>
                </a:solidFill>
                <a:latin typeface="Arial"/>
              </a:defRPr>
            </a:pPr>
            <a:r>
              <a:t>TAKEAWAY FOR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Arial"/>
              </a:defRPr>
            </a:pPr>
            <a:r>
              <a:t>The evidence now supports a reusable search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9ED9D6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528816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" b="0" i="0">
                <a:solidFill>
                  <a:srgbClr val="B8C8D8"/>
                </a:solidFill>
                <a:latin typeface="Arial"/>
              </a:defRPr>
            </a:pPr>
            <a:r>
              <a:t>Recommended next evidence: replicate seeds/runs, complete all six top5 LOOCV folds, and manually audit run 708907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ED9D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38528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Arial"/>
              </a:defRPr>
            </a:pPr>
            <a:r>
              <a:t>Mechanistic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4767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 i="0">
                <a:solidFill>
                  <a:srgbClr val="D7E2EC"/>
                </a:solidFill>
                <a:latin typeface="Arial"/>
              </a:defRPr>
            </a:pPr>
            <a:r>
              <a:t>We preserved the exact neuron current balance while turning active, latent discovery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80" b="0" i="0">
                <a:solidFill>
                  <a:srgbClr val="D7E2EC"/>
                </a:solidFill>
                <a:latin typeface="Arial"/>
              </a:defRPr>
            </a:pPr>
            <a:r>
              <a:t>into a controlled symbolic-regression test.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724912"/>
            <a:ext cx="10497312" cy="0"/>
          </a:xfrm>
          <a:prstGeom prst="line">
            <a:avLst/>
          </a:prstGeom>
          <a:ln w="10160">
            <a:solidFill>
              <a:srgbClr val="4168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063239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ED9D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35808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Arial"/>
              </a:defRPr>
            </a:pPr>
            <a:r>
              <a:t>Transfer, not memorization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44951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 i="0">
                <a:solidFill>
                  <a:srgbClr val="D7E2EC"/>
                </a:solidFill>
                <a:latin typeface="Arial"/>
              </a:defRPr>
            </a:pPr>
            <a:r>
              <a:t>Algorithms evolved on 1–5 neuron worlds recover equations on unseen mechanisms;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80" b="0" i="0">
                <a:solidFill>
                  <a:srgbClr val="D7E2EC"/>
                </a:solidFill>
                <a:latin typeface="Arial"/>
              </a:defRPr>
            </a:pPr>
            <a:r>
              <a:t>the newest run used a generic prompt.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822191"/>
            <a:ext cx="10497312" cy="0"/>
          </a:xfrm>
          <a:prstGeom prst="line">
            <a:avLst/>
          </a:prstGeom>
          <a:ln w="10160">
            <a:solidFill>
              <a:srgbClr val="4168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1605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9ED9D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Arial"/>
              </a:defRPr>
            </a:pPr>
            <a:r>
              <a:t>A stable algorithmic motif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42232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80" b="0" i="0">
                <a:solidFill>
                  <a:srgbClr val="D7E2EC"/>
                </a:solidFill>
                <a:latin typeface="Arial"/>
              </a:defRPr>
            </a:pPr>
            <a:r>
              <a:t>Residual-guided additive mutation repeatedly emerges because neuron currents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80" b="0" i="0">
                <a:solidFill>
                  <a:srgbClr val="D7E2EC"/>
                </a:solidFill>
                <a:latin typeface="Arial"/>
              </a:defRPr>
            </a:pPr>
            <a:r>
              <a:t>combine as additive feature directions.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422392"/>
            <a:ext cx="10497312" cy="667512"/>
          </a:xfrm>
          <a:prstGeom prst="roundRect">
            <a:avLst/>
          </a:prstGeom>
          <a:solidFill>
            <a:srgbClr val="168C8C"/>
          </a:solidFill>
          <a:ln w="12700">
            <a:solidFill>
              <a:srgbClr val="16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5596128"/>
            <a:ext cx="9838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Bottom line: meta-evolution is learning a useful search heuristic—not merely receiving neuron-specific hints.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